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84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81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57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40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2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4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75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61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19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72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55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43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25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89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2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526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37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915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862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961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004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581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38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3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612D2F0-C725-4AA5-8C46-367B84B1BFC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06FCBA8-E056-428B-B372-B950C14D8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1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486A-9923-92D6-023D-EFEAF9FA2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Bank of CLI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C97B5-B363-70C9-03A4-AF84DACCB4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Aryaman Tomer</a:t>
            </a:r>
          </a:p>
        </p:txBody>
      </p:sp>
    </p:spTree>
    <p:extLst>
      <p:ext uri="{BB962C8B-B14F-4D97-AF65-F5344CB8AC3E}">
        <p14:creationId xmlns:p14="http://schemas.microsoft.com/office/powerpoint/2010/main" val="776213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B758-9242-4056-133F-1EAC5B01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of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6D09C-CA90-7691-9F79-41547B4EE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Bank of CLI is a terminal-based banking application built in Java that allows users to register, log in, manage account balances, transfer funds, and view transaction history using a PostgreSQL database.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C4BFE-421B-8CD3-D427-D654072C5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8" y="2495233"/>
            <a:ext cx="5458587" cy="3115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FC6DD1-3F74-4D37-6CC9-97A1F2B21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224" y="2495233"/>
            <a:ext cx="5702577" cy="311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84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143B-B81F-4022-4DA7-1AA92638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B2106-2F0A-D73A-7DB8-840DBC45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application provides the core functionality of a banking ledger entirely through the command line.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901EF-F823-07D5-E5F6-415BB14DCFF6}"/>
              </a:ext>
            </a:extLst>
          </p:cNvPr>
          <p:cNvSpPr/>
          <p:nvPr/>
        </p:nvSpPr>
        <p:spPr>
          <a:xfrm>
            <a:off x="1325880" y="3557016"/>
            <a:ext cx="1161288" cy="1115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REGISTER / LOGIN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Create Account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Sign 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F8F889-5BA1-8860-640B-9DAB98C6819B}"/>
              </a:ext>
            </a:extLst>
          </p:cNvPr>
          <p:cNvSpPr/>
          <p:nvPr/>
        </p:nvSpPr>
        <p:spPr>
          <a:xfrm>
            <a:off x="3828288" y="3562572"/>
            <a:ext cx="1161288" cy="1115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CHECK BALANCE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View Current Balance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C8A355-8C9A-6C5F-3199-73DE7571E5D7}"/>
              </a:ext>
            </a:extLst>
          </p:cNvPr>
          <p:cNvSpPr/>
          <p:nvPr/>
        </p:nvSpPr>
        <p:spPr>
          <a:xfrm>
            <a:off x="6330696" y="3554952"/>
            <a:ext cx="1161288" cy="1115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MANAGE FUNDS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Deposit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Withdraw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Transfer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9C3F4E-6FC6-25D1-445A-1C62479292DA}"/>
              </a:ext>
            </a:extLst>
          </p:cNvPr>
          <p:cNvSpPr/>
          <p:nvPr/>
        </p:nvSpPr>
        <p:spPr>
          <a:xfrm>
            <a:off x="8833104" y="3554952"/>
            <a:ext cx="1161288" cy="1115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VIEW ACTIVITY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Transaction History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AFEAC5-8550-08C0-77F2-E7377853BD93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2487168" y="4114800"/>
            <a:ext cx="1341120" cy="5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78C112-02A7-8812-1100-85CFDD79E696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4989576" y="4112736"/>
            <a:ext cx="1341120" cy="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BB2A67-B269-5D72-232D-191E7DA40A6E}"/>
              </a:ext>
            </a:extLst>
          </p:cNvPr>
          <p:cNvCxnSpPr>
            <a:endCxn id="16" idx="1"/>
          </p:cNvCxnSpPr>
          <p:nvPr/>
        </p:nvCxnSpPr>
        <p:spPr>
          <a:xfrm>
            <a:off x="7491984" y="4112736"/>
            <a:ext cx="1341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653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CD4A-2A6A-037B-41C9-C577E356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66BFC-8D11-188D-B7AE-656A33907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application move from user input to the database?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C69D4-0D48-0690-E899-45F27D7A4D24}"/>
              </a:ext>
            </a:extLst>
          </p:cNvPr>
          <p:cNvSpPr/>
          <p:nvPr/>
        </p:nvSpPr>
        <p:spPr>
          <a:xfrm>
            <a:off x="3590162" y="2746089"/>
            <a:ext cx="1834897" cy="22131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Service Layer –</a:t>
            </a:r>
          </a:p>
          <a:p>
            <a:pPr algn="ctr"/>
            <a:r>
              <a:rPr lang="en-US" sz="1100" dirty="0" err="1"/>
              <a:t>AccountService</a:t>
            </a:r>
            <a:r>
              <a:rPr lang="en-US" sz="1100" dirty="0"/>
              <a:t>, </a:t>
            </a:r>
            <a:r>
              <a:rPr lang="en-US" sz="1100" dirty="0" err="1"/>
              <a:t>AccountServiceImpl</a:t>
            </a:r>
            <a:endParaRPr lang="en-US" sz="11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Registration &amp; login logic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PIN validation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Deposit / withdrawal validation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Prevents overdrafts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Validates transfers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Retrieves transaction history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0F8FD6-7F1C-6BAC-8DD1-64174B1CEFFC}"/>
              </a:ext>
            </a:extLst>
          </p:cNvPr>
          <p:cNvSpPr/>
          <p:nvPr/>
        </p:nvSpPr>
        <p:spPr>
          <a:xfrm>
            <a:off x="533398" y="2964942"/>
            <a:ext cx="1834898" cy="17754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API / CLI layer – Main, </a:t>
            </a:r>
            <a:r>
              <a:rPr lang="en-US" sz="1100" dirty="0" err="1"/>
              <a:t>BankCli</a:t>
            </a:r>
            <a:endParaRPr lang="en-US" sz="11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Starts the Application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Displays Menus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Reads Account ID, PIN, amounts, choices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Prints success/error messages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C5E0F9-DFDE-AC68-2C24-7B6D2C6CE9DE}"/>
              </a:ext>
            </a:extLst>
          </p:cNvPr>
          <p:cNvSpPr/>
          <p:nvPr/>
        </p:nvSpPr>
        <p:spPr>
          <a:xfrm>
            <a:off x="6646926" y="2302763"/>
            <a:ext cx="1733296" cy="30998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Repository Layer - </a:t>
            </a:r>
            <a:r>
              <a:rPr lang="en-US" sz="1100" dirty="0" err="1"/>
              <a:t>AccountRepository</a:t>
            </a:r>
            <a:r>
              <a:rPr lang="en-US" sz="1100" dirty="0"/>
              <a:t>,</a:t>
            </a:r>
          </a:p>
          <a:p>
            <a:pPr algn="ctr"/>
            <a:r>
              <a:rPr lang="en-US" sz="1100" dirty="0"/>
              <a:t>AccountRepositoryImpl,</a:t>
            </a:r>
          </a:p>
          <a:p>
            <a:pPr algn="ctr"/>
            <a:r>
              <a:rPr lang="en-US" sz="1100" dirty="0" err="1"/>
              <a:t>TransactionRepository</a:t>
            </a:r>
            <a:r>
              <a:rPr lang="en-US" sz="1100" dirty="0"/>
              <a:t>.,</a:t>
            </a:r>
          </a:p>
          <a:p>
            <a:pPr algn="ctr"/>
            <a:r>
              <a:rPr lang="en-US" sz="1100" dirty="0" err="1"/>
              <a:t>TransactionRepositoryImpl</a:t>
            </a:r>
            <a:r>
              <a:rPr lang="en-US" sz="1100" dirty="0"/>
              <a:t>,</a:t>
            </a:r>
          </a:p>
          <a:p>
            <a:pPr algn="ctr"/>
            <a:r>
              <a:rPr lang="en-US" sz="1100" dirty="0" err="1"/>
              <a:t>ConnectionFactory</a:t>
            </a:r>
            <a:r>
              <a:rPr lang="en-US" sz="1100" dirty="0"/>
              <a:t>,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Executes SQL through JDBC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Creates / retrieves accounts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Updates balances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Stores transaction records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Handles commit / rollback for transfers</a:t>
            </a:r>
          </a:p>
          <a:p>
            <a:pPr algn="ctr"/>
            <a:r>
              <a:rPr lang="en-US" sz="11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7531DA-64A8-A253-D444-768F9B533EF4}"/>
              </a:ext>
            </a:extLst>
          </p:cNvPr>
          <p:cNvSpPr/>
          <p:nvPr/>
        </p:nvSpPr>
        <p:spPr>
          <a:xfrm>
            <a:off x="9823704" y="3028950"/>
            <a:ext cx="1834896" cy="1711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Postgres – Accounts and Transactions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Account credentials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Current balances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Deposit / withdrawal records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Transfer records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Persistent storage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AA3CDA-6D24-0407-F2A0-9EFFA9B3C4E9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2368296" y="3852672"/>
            <a:ext cx="1221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6C08D4-FD2C-B1DD-023C-49F2FAACE98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5425059" y="3852671"/>
            <a:ext cx="12218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41F6BD-2DEF-1C5D-DFC9-7F3996C5BEA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8380222" y="3852671"/>
            <a:ext cx="1443482" cy="32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12F8BCE7-8ABC-EB21-004E-F15D4780FCA9}"/>
              </a:ext>
            </a:extLst>
          </p:cNvPr>
          <p:cNvSpPr/>
          <p:nvPr/>
        </p:nvSpPr>
        <p:spPr>
          <a:xfrm>
            <a:off x="8878824" y="923544"/>
            <a:ext cx="1911096" cy="15499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Domain Models - Account Transaction, </a:t>
            </a:r>
            <a:r>
              <a:rPr lang="en-US" sz="1100" dirty="0" err="1"/>
              <a:t>TransactionType</a:t>
            </a:r>
            <a:endParaRPr lang="en-US" sz="1100" dirty="0"/>
          </a:p>
          <a:p>
            <a:pPr algn="ctr"/>
            <a:r>
              <a:rPr lang="en-US" sz="1100" dirty="0"/>
              <a:t>Java objects used to move banking data between layers.</a:t>
            </a:r>
          </a:p>
        </p:txBody>
      </p:sp>
    </p:spTree>
    <p:extLst>
      <p:ext uri="{BB962C8B-B14F-4D97-AF65-F5344CB8AC3E}">
        <p14:creationId xmlns:p14="http://schemas.microsoft.com/office/powerpoint/2010/main" val="62717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B45B-E374-24DB-C0E4-09475BFF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87D7F3-0E97-A7EC-E698-B56E51DE3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568055"/>
              </p:ext>
            </p:extLst>
          </p:nvPr>
        </p:nvGraphicFramePr>
        <p:xfrm>
          <a:off x="533400" y="1747838"/>
          <a:ext cx="11125200" cy="3573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953556518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567847435"/>
                    </a:ext>
                  </a:extLst>
                </a:gridCol>
              </a:tblGrid>
              <a:tr h="1191323">
                <a:tc>
                  <a:txBody>
                    <a:bodyPr/>
                    <a:lstStyle/>
                    <a:p>
                      <a:r>
                        <a:rPr lang="en-US" dirty="0"/>
                        <a:t>Java – Core application language. Used for the CLI, business logic, domain models, repository classes, validation, and exception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Maven – Manages the project build and external dependencies such as PostgreSQL JDBC, JUnit 5, and </a:t>
                      </a:r>
                      <a:r>
                        <a:rPr lang="en-US" dirty="0" err="1"/>
                        <a:t>Bcrypt</a:t>
                      </a:r>
                      <a:r>
                        <a:rPr lang="en-US" dirty="0"/>
                        <a:t>. Also runs automated tests with </a:t>
                      </a:r>
                      <a:r>
                        <a:rPr lang="en-US" dirty="0" err="1"/>
                        <a:t>mvn</a:t>
                      </a:r>
                      <a:r>
                        <a:rPr lang="en-US" dirty="0"/>
                        <a:t> test.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734262"/>
                  </a:ext>
                </a:extLst>
              </a:tr>
              <a:tr h="1191323">
                <a:tc>
                  <a:txBody>
                    <a:bodyPr/>
                    <a:lstStyle/>
                    <a:p>
                      <a:r>
                        <a:rPr lang="en-US" dirty="0"/>
                        <a:t>PostgreSQL – Persistent Relational Database storing accounts, balanced, hashed PINs, and transaction history.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JDBC – Connects the Java Repository layer to PostgreSQL. Used for prepared statements, queries, updates, and database transactions.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17795"/>
                  </a:ext>
                </a:extLst>
              </a:tr>
              <a:tr h="1191323">
                <a:tc>
                  <a:txBody>
                    <a:bodyPr/>
                    <a:lstStyle/>
                    <a:p>
                      <a:r>
                        <a:rPr lang="en-US" dirty="0"/>
                        <a:t>JUnit5 – Automated Testing framework used for positive and negative tests across the Service and Repository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Git and </a:t>
                      </a:r>
                      <a:r>
                        <a:rPr lang="en-US" dirty="0" err="1"/>
                        <a:t>Github</a:t>
                      </a:r>
                      <a:r>
                        <a:rPr lang="en-US" dirty="0"/>
                        <a:t> – Version control for tracking project changes, commits, and source-code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1696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4EBB0E-E526-3589-1D06-2A935A4BB06A}"/>
              </a:ext>
            </a:extLst>
          </p:cNvPr>
          <p:cNvSpPr txBox="1"/>
          <p:nvPr/>
        </p:nvSpPr>
        <p:spPr>
          <a:xfrm>
            <a:off x="2464236" y="5683358"/>
            <a:ext cx="726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BCrypt</a:t>
            </a:r>
            <a:r>
              <a:rPr lang="en-US" dirty="0"/>
              <a:t> - Hashes account PINs before they are stored in PostgreSQL.</a:t>
            </a:r>
          </a:p>
        </p:txBody>
      </p:sp>
    </p:spTree>
    <p:extLst>
      <p:ext uri="{BB962C8B-B14F-4D97-AF65-F5344CB8AC3E}">
        <p14:creationId xmlns:p14="http://schemas.microsoft.com/office/powerpoint/2010/main" val="173981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6425-2014-AE66-35FF-E27FB104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1A4209-D1A2-AA2C-EA3C-AC63FBE66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021" y="2478025"/>
            <a:ext cx="6330825" cy="3977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D72DDD-3DF0-AF0A-31A5-752E2F9A9DE3}"/>
              </a:ext>
            </a:extLst>
          </p:cNvPr>
          <p:cNvSpPr txBox="1"/>
          <p:nvPr/>
        </p:nvSpPr>
        <p:spPr>
          <a:xfrm>
            <a:off x="533398" y="1901952"/>
            <a:ext cx="113629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database has two main tables.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accounts table stores each user’s account information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Unique Account ID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Hashed PIN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Current balance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Creation date.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transactions table records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Deposit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Withdrawal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Transfer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Amount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Transaction 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Related account when applicable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Timestamp.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C1F3B-45B9-E48A-72DE-513D154ACF59}"/>
              </a:ext>
            </a:extLst>
          </p:cNvPr>
          <p:cNvSpPr txBox="1"/>
          <p:nvPr/>
        </p:nvSpPr>
        <p:spPr>
          <a:xfrm>
            <a:off x="533398" y="4985930"/>
            <a:ext cx="3767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One account can have many transaction records, which creates a one-to-many relationship between the two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9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D0BE5-F11C-9448-68F1-AC30021F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And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26C0A-3A31-F419-3458-10978DEFD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- JUnit 5</a:t>
            </a:r>
          </a:p>
          <a:p>
            <a:r>
              <a:rPr lang="en-US" dirty="0"/>
              <a:t>28 Total Automated Tests</a:t>
            </a:r>
          </a:p>
          <a:p>
            <a:pPr lvl="0"/>
            <a:r>
              <a:rPr lang="en-US" dirty="0"/>
              <a:t>14 Service Layer tests </a:t>
            </a:r>
          </a:p>
          <a:p>
            <a:pPr lvl="0"/>
            <a:r>
              <a:rPr lang="en-US" dirty="0"/>
              <a:t>12 Account Repository tests</a:t>
            </a:r>
          </a:p>
          <a:p>
            <a:pPr lvl="0"/>
            <a:r>
              <a:rPr lang="en-US" dirty="0"/>
              <a:t>2 Transaction Repository tests </a:t>
            </a:r>
          </a:p>
          <a:p>
            <a:pPr lvl="0"/>
            <a:r>
              <a:rPr lang="en-US" dirty="0"/>
              <a:t>Includes both positive and negative scenarios</a:t>
            </a:r>
          </a:p>
          <a:p>
            <a:pPr lvl="0"/>
            <a:r>
              <a:rPr lang="en-US" dirty="0"/>
              <a:t>Validates:</a:t>
            </a:r>
          </a:p>
          <a:p>
            <a:pPr lvl="1"/>
            <a:r>
              <a:rPr lang="en-US" dirty="0"/>
              <a:t>Registration and login </a:t>
            </a:r>
          </a:p>
          <a:p>
            <a:pPr lvl="1"/>
            <a:r>
              <a:rPr lang="en-US" dirty="0"/>
              <a:t>Balance retrieval </a:t>
            </a:r>
          </a:p>
          <a:p>
            <a:pPr lvl="1"/>
            <a:r>
              <a:rPr lang="en-US" dirty="0"/>
              <a:t>Deposits and withdrawals </a:t>
            </a:r>
          </a:p>
          <a:p>
            <a:pPr lvl="1"/>
            <a:r>
              <a:rPr lang="en-US" dirty="0"/>
              <a:t>Overdraft prevention </a:t>
            </a:r>
          </a:p>
          <a:p>
            <a:pPr lvl="1"/>
            <a:r>
              <a:rPr lang="en-US" dirty="0"/>
              <a:t>Transfers between accounts </a:t>
            </a:r>
          </a:p>
          <a:p>
            <a:pPr lvl="1"/>
            <a:r>
              <a:rPr lang="en-US" dirty="0"/>
              <a:t>Transaction history </a:t>
            </a:r>
          </a:p>
          <a:p>
            <a:pPr lvl="1"/>
            <a:r>
              <a:rPr lang="en-US" dirty="0"/>
              <a:t>Transfer rollback / atomic behavior </a:t>
            </a:r>
          </a:p>
          <a:p>
            <a:r>
              <a:rPr lang="en-US" dirty="0"/>
              <a:t>Example positive test: successful deposit updates balance</a:t>
            </a:r>
          </a:p>
          <a:p>
            <a:r>
              <a:rPr lang="en-US" dirty="0"/>
              <a:t>Example negative test: overdraft attempt is rejected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6E7488-7289-ECC0-6DB7-445CD7D7629D}"/>
              </a:ext>
            </a:extLst>
          </p:cNvPr>
          <p:cNvSpPr/>
          <p:nvPr/>
        </p:nvSpPr>
        <p:spPr>
          <a:xfrm>
            <a:off x="6894576" y="1365502"/>
            <a:ext cx="4764023" cy="5111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Logging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Logs stored in logs/bank-of-cli.log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INFO logs successful application activity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ERROR logs failed operations, security issues, and technical problems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Used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Monitor user actions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Troubleshoot failures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Track authentication problems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Record database errors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Keep technical stack traces hidden from the user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941812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378</TotalTime>
  <Words>530</Words>
  <Application>Microsoft Office PowerPoint</Application>
  <PresentationFormat>Widescreen</PresentationFormat>
  <Paragraphs>103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Modulo</vt:lpstr>
      <vt:lpstr>Bank of CLI</vt:lpstr>
      <vt:lpstr>Bank of CLI</vt:lpstr>
      <vt:lpstr>Project Overview</vt:lpstr>
      <vt:lpstr>Architecture</vt:lpstr>
      <vt:lpstr>Tech Stack</vt:lpstr>
      <vt:lpstr>Database Schema</vt:lpstr>
      <vt:lpstr>Testing And Logging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Aryaman Tomer</dc:creator>
  <cp:lastModifiedBy>Aryaman Tomer</cp:lastModifiedBy>
  <cp:revision>1</cp:revision>
  <dcterms:created xsi:type="dcterms:W3CDTF">2026-09-24T14:17:08Z</dcterms:created>
  <dcterms:modified xsi:type="dcterms:W3CDTF">2026-09-24T20:35:27Z</dcterms:modified>
</cp:coreProperties>
</file>